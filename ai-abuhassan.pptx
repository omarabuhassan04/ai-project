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mputer Says No" panose="020B0604020202020204" charset="0"/>
      <p:regular r:id="rId12"/>
    </p:embeddedFont>
    <p:embeddedFont>
      <p:font typeface="Poppins Light" panose="020B0502040204020203" pitchFamily="2" charset="0"/>
      <p:regular r:id="rId13"/>
    </p:embeddedFont>
    <p:embeddedFont>
      <p:font typeface="Poppins Medium" panose="020B0502040204020203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16" b="-86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576678" y="6172200"/>
            <a:ext cx="10008973" cy="8229600"/>
          </a:xfrm>
          <a:custGeom>
            <a:avLst/>
            <a:gdLst/>
            <a:ahLst/>
            <a:cxnLst/>
            <a:rect l="l" t="t" r="r" b="b"/>
            <a:pathLst>
              <a:path w="10008973" h="8229600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268070" y="-2818506"/>
            <a:ext cx="4825046" cy="4219769"/>
          </a:xfrm>
          <a:custGeom>
            <a:avLst/>
            <a:gdLst/>
            <a:ahLst/>
            <a:cxnLst/>
            <a:rect l="l" t="t" r="r" b="b"/>
            <a:pathLst>
              <a:path w="4825046" h="4219769">
                <a:moveTo>
                  <a:pt x="0" y="0"/>
                </a:moveTo>
                <a:lnTo>
                  <a:pt x="4825046" y="0"/>
                </a:lnTo>
                <a:lnTo>
                  <a:pt x="4825046" y="4219769"/>
                </a:lnTo>
                <a:lnTo>
                  <a:pt x="0" y="421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161481" y="-4114800"/>
            <a:ext cx="10008973" cy="8229600"/>
          </a:xfrm>
          <a:custGeom>
            <a:avLst/>
            <a:gdLst/>
            <a:ahLst/>
            <a:cxnLst/>
            <a:rect l="l" t="t" r="r" b="b"/>
            <a:pathLst>
              <a:path w="10008973" h="8229600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850925" y="6497858"/>
            <a:ext cx="6926813" cy="485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sz="2714">
                <a:solidFill>
                  <a:srgbClr val="6866E1"/>
                </a:solidFill>
                <a:latin typeface="Poppins Light"/>
                <a:ea typeface="Poppins Light"/>
                <a:cs typeface="Poppins Light"/>
                <a:sym typeface="Poppins Light"/>
              </a:rPr>
              <a:t>By omar Abuhassan</a:t>
            </a:r>
          </a:p>
        </p:txBody>
      </p:sp>
      <p:sp>
        <p:nvSpPr>
          <p:cNvPr id="7" name="Freeform 7"/>
          <p:cNvSpPr/>
          <p:nvPr/>
        </p:nvSpPr>
        <p:spPr>
          <a:xfrm>
            <a:off x="-391635" y="1333816"/>
            <a:ext cx="3948234" cy="1724379"/>
          </a:xfrm>
          <a:custGeom>
            <a:avLst/>
            <a:gdLst/>
            <a:ahLst/>
            <a:cxnLst/>
            <a:rect l="l" t="t" r="r" b="b"/>
            <a:pathLst>
              <a:path w="3948234" h="1724379">
                <a:moveTo>
                  <a:pt x="0" y="0"/>
                </a:moveTo>
                <a:lnTo>
                  <a:pt x="3948234" y="0"/>
                </a:lnTo>
                <a:lnTo>
                  <a:pt x="3948234" y="1724379"/>
                </a:lnTo>
                <a:lnTo>
                  <a:pt x="0" y="1724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601689" y="8426785"/>
            <a:ext cx="4729467" cy="4047169"/>
          </a:xfrm>
          <a:custGeom>
            <a:avLst/>
            <a:gdLst/>
            <a:ahLst/>
            <a:cxnLst/>
            <a:rect l="l" t="t" r="r" b="b"/>
            <a:pathLst>
              <a:path w="4729467" h="4047169">
                <a:moveTo>
                  <a:pt x="0" y="0"/>
                </a:moveTo>
                <a:lnTo>
                  <a:pt x="4729467" y="0"/>
                </a:lnTo>
                <a:lnTo>
                  <a:pt x="4729467" y="4047170"/>
                </a:lnTo>
                <a:lnTo>
                  <a:pt x="0" y="4047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03684" y="4274344"/>
            <a:ext cx="10798435" cy="140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7149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FUNDAMENTALS, APPLICATIONS, AND CHALLENGES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50925" y="3372520"/>
            <a:ext cx="7103952" cy="77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7148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ARTIFICIAL INTELLIGENCE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9992168" y="1795880"/>
            <a:ext cx="8078630" cy="11840963"/>
          </a:xfrm>
          <a:custGeom>
            <a:avLst/>
            <a:gdLst/>
            <a:ahLst/>
            <a:cxnLst/>
            <a:rect l="l" t="t" r="r" b="b"/>
            <a:pathLst>
              <a:path w="8078630" h="11840963">
                <a:moveTo>
                  <a:pt x="8078630" y="0"/>
                </a:moveTo>
                <a:lnTo>
                  <a:pt x="0" y="0"/>
                </a:lnTo>
                <a:lnTo>
                  <a:pt x="0" y="11840963"/>
                </a:lnTo>
                <a:lnTo>
                  <a:pt x="8078630" y="11840963"/>
                </a:lnTo>
                <a:lnTo>
                  <a:pt x="807863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96678" y="1290997"/>
            <a:ext cx="5726139" cy="2500874"/>
          </a:xfrm>
          <a:custGeom>
            <a:avLst/>
            <a:gdLst/>
            <a:ahLst/>
            <a:cxnLst/>
            <a:rect l="l" t="t" r="r" b="b"/>
            <a:pathLst>
              <a:path w="5726139" h="2500874">
                <a:moveTo>
                  <a:pt x="0" y="0"/>
                </a:moveTo>
                <a:lnTo>
                  <a:pt x="5726138" y="0"/>
                </a:lnTo>
                <a:lnTo>
                  <a:pt x="5726138" y="2500874"/>
                </a:lnTo>
                <a:lnTo>
                  <a:pt x="0" y="2500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H="1" flipV="1">
            <a:off x="17259300" y="1028700"/>
            <a:ext cx="0" cy="578647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4234201"/>
            <a:ext cx="9897232" cy="5006268"/>
            <a:chOff x="0" y="0"/>
            <a:chExt cx="13196309" cy="6675023"/>
          </a:xfrm>
        </p:grpSpPr>
        <p:sp>
          <p:nvSpPr>
            <p:cNvPr id="5" name="AutoShape 5"/>
            <p:cNvSpPr/>
            <p:nvPr/>
          </p:nvSpPr>
          <p:spPr>
            <a:xfrm flipV="1">
              <a:off x="25400" y="0"/>
              <a:ext cx="0" cy="667502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0" y="6649623"/>
              <a:ext cx="13196309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0925932" y="5660310"/>
            <a:ext cx="6819964" cy="5836080"/>
          </a:xfrm>
          <a:custGeom>
            <a:avLst/>
            <a:gdLst/>
            <a:ahLst/>
            <a:cxnLst/>
            <a:rect l="l" t="t" r="r" b="b"/>
            <a:pathLst>
              <a:path w="6819964" h="5836080">
                <a:moveTo>
                  <a:pt x="0" y="0"/>
                </a:moveTo>
                <a:lnTo>
                  <a:pt x="6819964" y="0"/>
                </a:lnTo>
                <a:lnTo>
                  <a:pt x="6819964" y="5836081"/>
                </a:lnTo>
                <a:lnTo>
                  <a:pt x="0" y="5836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829461" y="1438568"/>
            <a:ext cx="5353298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83"/>
              </a:lnSpc>
              <a:spcBef>
                <a:spcPct val="0"/>
              </a:spcBef>
            </a:pPr>
            <a:r>
              <a:rPr lang="en-US" sz="11922" dirty="0">
                <a:solidFill>
                  <a:schemeClr val="bg2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TABLE OF CONTENTS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18472" y="3799140"/>
            <a:ext cx="6125528" cy="489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0796" lvl="1" indent="-330398" algn="l">
              <a:lnSpc>
                <a:spcPts val="4284"/>
              </a:lnSpc>
              <a:buFont typeface="Arial"/>
              <a:buChar char="•"/>
            </a:pPr>
            <a:r>
              <a:rPr lang="en-US" sz="306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What is Artificial Intelligence</a:t>
            </a:r>
          </a:p>
          <a:p>
            <a:pPr marL="660796" lvl="1" indent="-330398" algn="l">
              <a:lnSpc>
                <a:spcPts val="4284"/>
              </a:lnSpc>
              <a:buFont typeface="Arial"/>
              <a:buChar char="•"/>
            </a:pPr>
            <a:r>
              <a:rPr lang="en-US" sz="306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Types and Applications</a:t>
            </a:r>
          </a:p>
          <a:p>
            <a:pPr marL="660796" lvl="1" indent="-330398" algn="l">
              <a:lnSpc>
                <a:spcPts val="4284"/>
              </a:lnSpc>
              <a:buFont typeface="Arial"/>
              <a:buChar char="•"/>
            </a:pPr>
            <a:r>
              <a:rPr lang="en-US" sz="306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Pros and Cons of AI</a:t>
            </a:r>
          </a:p>
          <a:p>
            <a:pPr marL="660796" lvl="1" indent="-330398" algn="l">
              <a:lnSpc>
                <a:spcPts val="4284"/>
              </a:lnSpc>
              <a:buFont typeface="Arial"/>
              <a:buChar char="•"/>
            </a:pPr>
            <a:r>
              <a:rPr lang="en-US" sz="306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Security and Ethical Issues</a:t>
            </a:r>
          </a:p>
          <a:p>
            <a:pPr marL="660796" lvl="1" indent="-330398" algn="l">
              <a:lnSpc>
                <a:spcPts val="4284"/>
              </a:lnSpc>
              <a:buFont typeface="Arial"/>
              <a:buChar char="•"/>
            </a:pPr>
            <a:r>
              <a:rPr lang="en-US" sz="306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Technical Challenges</a:t>
            </a:r>
          </a:p>
          <a:p>
            <a:pPr marL="660796" lvl="1" indent="-330398" algn="l">
              <a:lnSpc>
                <a:spcPts val="4284"/>
              </a:lnSpc>
              <a:buFont typeface="Arial"/>
              <a:buChar char="•"/>
            </a:pPr>
            <a:r>
              <a:rPr lang="en-US" sz="306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Legal and Security Implications</a:t>
            </a:r>
          </a:p>
          <a:p>
            <a:pPr marL="660796" lvl="1" indent="-330398" algn="l">
              <a:lnSpc>
                <a:spcPts val="4284"/>
              </a:lnSpc>
              <a:buFont typeface="Arial"/>
              <a:buChar char="•"/>
            </a:pPr>
            <a:r>
              <a:rPr lang="en-US" sz="306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Challenges and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A8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9B60EB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8772" y="1701308"/>
            <a:ext cx="7242648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9"/>
              </a:lnSpc>
              <a:spcBef>
                <a:spcPct val="0"/>
              </a:spcBef>
            </a:pPr>
            <a:r>
              <a:rPr lang="en-US" sz="7998" dirty="0">
                <a:solidFill>
                  <a:schemeClr val="bg2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WHAT IS ARTIFICIAL INTELLIGENCE?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78772" y="3222117"/>
            <a:ext cx="6920791" cy="1719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1"/>
              </a:lnSpc>
            </a:pPr>
            <a:r>
              <a:rPr lang="en-US" sz="272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Definition: </a:t>
            </a:r>
          </a:p>
          <a:p>
            <a:pPr algn="l">
              <a:lnSpc>
                <a:spcPts val="3821"/>
              </a:lnSpc>
            </a:pPr>
            <a:endParaRPr lang="en-US" sz="2729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l">
              <a:lnSpc>
                <a:spcPts val="2926"/>
              </a:lnSpc>
            </a:pPr>
            <a:r>
              <a:rPr lang="en-US" sz="209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Machines simulating human intelligence for tasks like learning, reasoning, and problem-solving.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578768" y="6036768"/>
            <a:ext cx="6920742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78720" y="6474918"/>
            <a:ext cx="4832640" cy="50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6"/>
              </a:lnSpc>
            </a:pPr>
            <a:r>
              <a:rPr lang="en-US" sz="2733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Core Functions: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8019" y="7396096"/>
            <a:ext cx="11005158" cy="109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838" lvl="1" indent="-225419" algn="just">
              <a:lnSpc>
                <a:spcPts val="2923"/>
              </a:lnSpc>
              <a:buAutoNum type="arabicPeriod"/>
            </a:pPr>
            <a:r>
              <a:rPr lang="en-US" sz="208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Learning (e.g., machine learning).</a:t>
            </a:r>
          </a:p>
          <a:p>
            <a:pPr marL="450838" lvl="1" indent="-225419" algn="just">
              <a:lnSpc>
                <a:spcPts val="2923"/>
              </a:lnSpc>
              <a:buAutoNum type="arabicPeriod"/>
            </a:pPr>
            <a:r>
              <a:rPr lang="en-US" sz="208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Reasoning (e.g., decision-making).</a:t>
            </a:r>
          </a:p>
          <a:p>
            <a:pPr marL="450838" lvl="1" indent="-225419" algn="just">
              <a:lnSpc>
                <a:spcPts val="2923"/>
              </a:lnSpc>
              <a:buAutoNum type="arabicPeriod"/>
            </a:pPr>
            <a:r>
              <a:rPr lang="en-US" sz="2088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Interaction (e.g., chatbots, NLP).</a:t>
            </a:r>
          </a:p>
        </p:txBody>
      </p:sp>
      <p:sp>
        <p:nvSpPr>
          <p:cNvPr id="7" name="Freeform 7"/>
          <p:cNvSpPr/>
          <p:nvPr/>
        </p:nvSpPr>
        <p:spPr>
          <a:xfrm>
            <a:off x="11565980" y="2447690"/>
            <a:ext cx="5021557" cy="5495018"/>
          </a:xfrm>
          <a:custGeom>
            <a:avLst/>
            <a:gdLst/>
            <a:ahLst/>
            <a:cxnLst/>
            <a:rect l="l" t="t" r="r" b="b"/>
            <a:pathLst>
              <a:path w="5021557" h="5495018">
                <a:moveTo>
                  <a:pt x="0" y="0"/>
                </a:moveTo>
                <a:lnTo>
                  <a:pt x="5021557" y="0"/>
                </a:lnTo>
                <a:lnTo>
                  <a:pt x="5021557" y="5495018"/>
                </a:lnTo>
                <a:lnTo>
                  <a:pt x="0" y="5495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726" y="2819660"/>
            <a:ext cx="6988487" cy="5595357"/>
          </a:xfrm>
          <a:custGeom>
            <a:avLst/>
            <a:gdLst/>
            <a:ahLst/>
            <a:cxnLst/>
            <a:rect l="l" t="t" r="r" b="b"/>
            <a:pathLst>
              <a:path w="6988487" h="5595357">
                <a:moveTo>
                  <a:pt x="0" y="0"/>
                </a:moveTo>
                <a:lnTo>
                  <a:pt x="6988488" y="0"/>
                </a:lnTo>
                <a:lnTo>
                  <a:pt x="6988488" y="5595358"/>
                </a:lnTo>
                <a:lnTo>
                  <a:pt x="0" y="5595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984048" y="3189728"/>
            <a:ext cx="2668682" cy="830294"/>
            <a:chOff x="0" y="0"/>
            <a:chExt cx="702863" cy="2186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02863" cy="218678"/>
            </a:xfrm>
            <a:custGeom>
              <a:avLst/>
              <a:gdLst/>
              <a:ahLst/>
              <a:cxnLst/>
              <a:rect l="l" t="t" r="r" b="b"/>
              <a:pathLst>
                <a:path w="702863" h="218678">
                  <a:moveTo>
                    <a:pt x="0" y="0"/>
                  </a:moveTo>
                  <a:lnTo>
                    <a:pt x="702863" y="0"/>
                  </a:lnTo>
                  <a:lnTo>
                    <a:pt x="702863" y="218678"/>
                  </a:lnTo>
                  <a:lnTo>
                    <a:pt x="0" y="2186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702863" cy="352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4678"/>
                </a:lnSpc>
                <a:spcBef>
                  <a:spcPct val="0"/>
                </a:spcBef>
              </a:pPr>
              <a:r>
                <a:rPr lang="en-US" sz="2888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Types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4135996" y="-2163135"/>
            <a:ext cx="6613789" cy="5640759"/>
          </a:xfrm>
          <a:custGeom>
            <a:avLst/>
            <a:gdLst/>
            <a:ahLst/>
            <a:cxnLst/>
            <a:rect l="l" t="t" r="r" b="b"/>
            <a:pathLst>
              <a:path w="6613789" h="5640759">
                <a:moveTo>
                  <a:pt x="0" y="0"/>
                </a:moveTo>
                <a:lnTo>
                  <a:pt x="6613790" y="0"/>
                </a:lnTo>
                <a:lnTo>
                  <a:pt x="6613790" y="5640759"/>
                </a:lnTo>
                <a:lnTo>
                  <a:pt x="0" y="5640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139784" y="1533525"/>
            <a:ext cx="10521134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235"/>
              </a:lnSpc>
              <a:spcBef>
                <a:spcPct val="0"/>
              </a:spcBef>
            </a:pPr>
            <a:r>
              <a:rPr lang="en-US" sz="11438" dirty="0">
                <a:solidFill>
                  <a:schemeClr val="bg2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TYPES AND APPLICATIONS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4048" y="4138386"/>
            <a:ext cx="8105145" cy="147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15" lvl="1" indent="-264658" algn="l">
              <a:lnSpc>
                <a:spcPts val="3971"/>
              </a:lnSpc>
              <a:buAutoNum type="arabicPeriod"/>
            </a:pPr>
            <a:r>
              <a:rPr lang="en-US" sz="245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Narrow AI (e.g., Alexa, recommendation systems).</a:t>
            </a:r>
          </a:p>
          <a:p>
            <a:pPr marL="529315" lvl="1" indent="-264658" algn="l">
              <a:lnSpc>
                <a:spcPts val="3971"/>
              </a:lnSpc>
              <a:buAutoNum type="arabicPeriod"/>
            </a:pPr>
            <a:r>
              <a:rPr lang="en-US" sz="245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General AI (future concept).</a:t>
            </a:r>
          </a:p>
          <a:p>
            <a:pPr algn="l">
              <a:lnSpc>
                <a:spcPts val="3971"/>
              </a:lnSpc>
            </a:pPr>
            <a:endParaRPr lang="en-US" sz="2451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7984048" y="5670102"/>
            <a:ext cx="2668682" cy="830294"/>
            <a:chOff x="0" y="0"/>
            <a:chExt cx="702863" cy="2186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2863" cy="218678"/>
            </a:xfrm>
            <a:custGeom>
              <a:avLst/>
              <a:gdLst/>
              <a:ahLst/>
              <a:cxnLst/>
              <a:rect l="l" t="t" r="r" b="b"/>
              <a:pathLst>
                <a:path w="702863" h="218678">
                  <a:moveTo>
                    <a:pt x="0" y="0"/>
                  </a:moveTo>
                  <a:lnTo>
                    <a:pt x="702863" y="0"/>
                  </a:lnTo>
                  <a:lnTo>
                    <a:pt x="702863" y="218678"/>
                  </a:lnTo>
                  <a:lnTo>
                    <a:pt x="0" y="2186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33350"/>
              <a:ext cx="702863" cy="352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4678"/>
                </a:lnSpc>
                <a:spcBef>
                  <a:spcPct val="0"/>
                </a:spcBef>
              </a:pPr>
              <a:r>
                <a:rPr lang="en-US" sz="2888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Applications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984048" y="6614697"/>
            <a:ext cx="8105145" cy="246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956" lvl="1" indent="-264478" algn="l">
              <a:lnSpc>
                <a:spcPts val="3969"/>
              </a:lnSpc>
              <a:buAutoNum type="arabicPeriod"/>
            </a:pPr>
            <a:r>
              <a:rPr lang="en-US" sz="24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Healthcare: Diagnosis and drug discovery.</a:t>
            </a:r>
          </a:p>
          <a:p>
            <a:pPr marL="528956" lvl="1" indent="-264478" algn="l">
              <a:lnSpc>
                <a:spcPts val="3969"/>
              </a:lnSpc>
              <a:buAutoNum type="arabicPeriod"/>
            </a:pPr>
            <a:r>
              <a:rPr lang="en-US" sz="24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Transportation: Autonomous vehicles.</a:t>
            </a:r>
          </a:p>
          <a:p>
            <a:pPr marL="528956" lvl="1" indent="-264478" algn="l">
              <a:lnSpc>
                <a:spcPts val="3969"/>
              </a:lnSpc>
              <a:buAutoNum type="arabicPeriod"/>
            </a:pPr>
            <a:r>
              <a:rPr lang="en-US" sz="24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Finance: Fraud detection.</a:t>
            </a:r>
          </a:p>
          <a:p>
            <a:pPr marL="528956" lvl="1" indent="-264478" algn="l">
              <a:lnSpc>
                <a:spcPts val="3969"/>
              </a:lnSpc>
              <a:buAutoNum type="arabicPeriod"/>
            </a:pPr>
            <a:r>
              <a:rPr lang="en-US" sz="245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Education: Personalized learning.</a:t>
            </a:r>
          </a:p>
          <a:p>
            <a:pPr algn="l">
              <a:lnSpc>
                <a:spcPts val="3969"/>
              </a:lnSpc>
            </a:pPr>
            <a:endParaRPr lang="en-US" sz="245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16" b="-8689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0571271" y="-3708211"/>
            <a:ext cx="10008973" cy="8229600"/>
          </a:xfrm>
          <a:custGeom>
            <a:avLst/>
            <a:gdLst/>
            <a:ahLst/>
            <a:cxnLst/>
            <a:rect l="l" t="t" r="r" b="b"/>
            <a:pathLst>
              <a:path w="10008973" h="8229600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5780911" y="4619267"/>
            <a:ext cx="10008973" cy="8229600"/>
          </a:xfrm>
          <a:custGeom>
            <a:avLst/>
            <a:gdLst/>
            <a:ahLst/>
            <a:cxnLst/>
            <a:rect l="l" t="t" r="r" b="b"/>
            <a:pathLst>
              <a:path w="10008973" h="8229600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338661" y="1717088"/>
            <a:ext cx="9610678" cy="114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 dirty="0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PROS AND CONS OF AI</a:t>
            </a:r>
          </a:p>
        </p:txBody>
      </p:sp>
      <p:sp>
        <p:nvSpPr>
          <p:cNvPr id="6" name="Freeform 6"/>
          <p:cNvSpPr/>
          <p:nvPr/>
        </p:nvSpPr>
        <p:spPr>
          <a:xfrm>
            <a:off x="1925319" y="2858988"/>
            <a:ext cx="2786232" cy="2786232"/>
          </a:xfrm>
          <a:custGeom>
            <a:avLst/>
            <a:gdLst/>
            <a:ahLst/>
            <a:cxnLst/>
            <a:rect l="l" t="t" r="r" b="b"/>
            <a:pathLst>
              <a:path w="2786232" h="2786232">
                <a:moveTo>
                  <a:pt x="0" y="0"/>
                </a:moveTo>
                <a:lnTo>
                  <a:pt x="2786232" y="0"/>
                </a:lnTo>
                <a:lnTo>
                  <a:pt x="2786232" y="2786231"/>
                </a:lnTo>
                <a:lnTo>
                  <a:pt x="0" y="2786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61604" y="4044869"/>
            <a:ext cx="2913661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  <a:spcBef>
                <a:spcPct val="0"/>
              </a:spcBef>
            </a:pPr>
            <a:r>
              <a:rPr lang="en-US" sz="3999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25700" y="4335270"/>
            <a:ext cx="2542053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  <a:spcBef>
                <a:spcPct val="0"/>
              </a:spcBef>
            </a:pPr>
            <a:r>
              <a:rPr lang="en-US" sz="3999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DISADVANTAGES</a:t>
            </a:r>
          </a:p>
        </p:txBody>
      </p:sp>
      <p:sp>
        <p:nvSpPr>
          <p:cNvPr id="9" name="AutoShape 9"/>
          <p:cNvSpPr/>
          <p:nvPr/>
        </p:nvSpPr>
        <p:spPr>
          <a:xfrm>
            <a:off x="4675646" y="4545201"/>
            <a:ext cx="9505876" cy="43354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181521" y="3195439"/>
            <a:ext cx="2786232" cy="2786232"/>
          </a:xfrm>
          <a:custGeom>
            <a:avLst/>
            <a:gdLst/>
            <a:ahLst/>
            <a:cxnLst/>
            <a:rect l="l" t="t" r="r" b="b"/>
            <a:pathLst>
              <a:path w="2786232" h="2786232">
                <a:moveTo>
                  <a:pt x="0" y="0"/>
                </a:moveTo>
                <a:lnTo>
                  <a:pt x="2786232" y="0"/>
                </a:lnTo>
                <a:lnTo>
                  <a:pt x="2786232" y="2786232"/>
                </a:lnTo>
                <a:lnTo>
                  <a:pt x="0" y="2786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FD41BBE-8CEE-C6FB-F449-C84B89E78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0487" y="5735457"/>
            <a:ext cx="682590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omputer Says No" panose="020B0604020202020204" charset="0"/>
              <a:cs typeface="Computer Says No" panose="020B0604020202020204" charset="0"/>
            </a:endParaRP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omputer Says No" panose="020B0604020202020204" charset="0"/>
                <a:cs typeface="Computer Says No" panose="020B0604020202020204" charset="0"/>
              </a:rPr>
              <a:t>Early disease detection (e.g., cancer screening).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omputer Says No" panose="020B0604020202020204" charset="0"/>
                <a:cs typeface="Computer Says No" panose="020B0604020202020204" charset="0"/>
              </a:rPr>
              <a:t>Personalized treatments based on patient data.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omputer Says No" panose="020B0604020202020204" charset="0"/>
                <a:cs typeface="Computer Says No" panose="020B0604020202020204" charset="0"/>
              </a:rPr>
              <a:t>Faster drug discovery and research.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omputer Says No" panose="020B0604020202020204" charset="0"/>
                <a:cs typeface="Computer Says No" panose="020B0604020202020204" charset="0"/>
              </a:rPr>
              <a:t>Real-time monitoring with wearables. 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AE6F546-0D8E-7756-4686-D84FE0F9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2859" y="5922405"/>
            <a:ext cx="670568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Computer Says No" panose="020B0604020202020204" charset="0"/>
              <a:cs typeface="Computer Says No" panose="020B0604020202020204" charset="0"/>
            </a:endParaRP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omputer Says No" panose="020B0604020202020204" charset="0"/>
                <a:cs typeface="Computer Says No" panose="020B0604020202020204" charset="0"/>
              </a:rPr>
              <a:t>Bias in decision-making due to data limitations.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omputer Says No" panose="020B0604020202020204" charset="0"/>
                <a:cs typeface="Computer Says No" panose="020B0604020202020204" charset="0"/>
              </a:rPr>
              <a:t>High costs of implementation.</a:t>
            </a:r>
          </a:p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omputer Says No" panose="020B0604020202020204" charset="0"/>
                <a:cs typeface="Computer Says No" panose="020B0604020202020204" charset="0"/>
              </a:rPr>
              <a:t>Privacy risks with patient data breaches.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B60EB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9B60E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81656" y="5321225"/>
            <a:ext cx="9074405" cy="4174226"/>
          </a:xfrm>
          <a:custGeom>
            <a:avLst/>
            <a:gdLst/>
            <a:ahLst/>
            <a:cxnLst/>
            <a:rect l="l" t="t" r="r" b="b"/>
            <a:pathLst>
              <a:path w="9074405" h="4174226">
                <a:moveTo>
                  <a:pt x="0" y="0"/>
                </a:moveTo>
                <a:lnTo>
                  <a:pt x="9074405" y="0"/>
                </a:lnTo>
                <a:lnTo>
                  <a:pt x="9074405" y="4174227"/>
                </a:lnTo>
                <a:lnTo>
                  <a:pt x="0" y="4174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9682047" y="5321225"/>
            <a:ext cx="9074405" cy="4174226"/>
          </a:xfrm>
          <a:custGeom>
            <a:avLst/>
            <a:gdLst/>
            <a:ahLst/>
            <a:cxnLst/>
            <a:rect l="l" t="t" r="r" b="b"/>
            <a:pathLst>
              <a:path w="9074405" h="4174226">
                <a:moveTo>
                  <a:pt x="0" y="0"/>
                </a:moveTo>
                <a:lnTo>
                  <a:pt x="9074405" y="0"/>
                </a:lnTo>
                <a:lnTo>
                  <a:pt x="9074405" y="4174227"/>
                </a:lnTo>
                <a:lnTo>
                  <a:pt x="0" y="4174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740066" y="-360334"/>
            <a:ext cx="4817598" cy="4184142"/>
          </a:xfrm>
          <a:custGeom>
            <a:avLst/>
            <a:gdLst/>
            <a:ahLst/>
            <a:cxnLst/>
            <a:rect l="l" t="t" r="r" b="b"/>
            <a:pathLst>
              <a:path w="4817598" h="4184142">
                <a:moveTo>
                  <a:pt x="0" y="0"/>
                </a:moveTo>
                <a:lnTo>
                  <a:pt x="4817598" y="0"/>
                </a:lnTo>
                <a:lnTo>
                  <a:pt x="4817598" y="4184143"/>
                </a:lnTo>
                <a:lnTo>
                  <a:pt x="0" y="4184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914841" y="-1784862"/>
            <a:ext cx="5101092" cy="4365182"/>
          </a:xfrm>
          <a:custGeom>
            <a:avLst/>
            <a:gdLst/>
            <a:ahLst/>
            <a:cxnLst/>
            <a:rect l="l" t="t" r="r" b="b"/>
            <a:pathLst>
              <a:path w="5101092" h="4365182">
                <a:moveTo>
                  <a:pt x="0" y="0"/>
                </a:moveTo>
                <a:lnTo>
                  <a:pt x="5101092" y="0"/>
                </a:lnTo>
                <a:lnTo>
                  <a:pt x="5101092" y="4365181"/>
                </a:lnTo>
                <a:lnTo>
                  <a:pt x="0" y="4365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601849" y="7100342"/>
            <a:ext cx="11495135" cy="4845199"/>
          </a:xfrm>
          <a:custGeom>
            <a:avLst/>
            <a:gdLst/>
            <a:ahLst/>
            <a:cxnLst/>
            <a:rect l="l" t="t" r="r" b="b"/>
            <a:pathLst>
              <a:path w="11495135" h="4845199">
                <a:moveTo>
                  <a:pt x="0" y="0"/>
                </a:moveTo>
                <a:lnTo>
                  <a:pt x="11495135" y="0"/>
                </a:lnTo>
                <a:lnTo>
                  <a:pt x="11495135" y="4845199"/>
                </a:lnTo>
                <a:lnTo>
                  <a:pt x="0" y="48451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72226">
            <a:off x="-769537" y="6074699"/>
            <a:ext cx="2810484" cy="6367201"/>
          </a:xfrm>
          <a:custGeom>
            <a:avLst/>
            <a:gdLst/>
            <a:ahLst/>
            <a:cxnLst/>
            <a:rect l="l" t="t" r="r" b="b"/>
            <a:pathLst>
              <a:path w="2810484" h="6367201">
                <a:moveTo>
                  <a:pt x="0" y="0"/>
                </a:moveTo>
                <a:lnTo>
                  <a:pt x="2810484" y="0"/>
                </a:lnTo>
                <a:lnTo>
                  <a:pt x="2810484" y="6367202"/>
                </a:lnTo>
                <a:lnTo>
                  <a:pt x="0" y="63672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655521" y="3335594"/>
            <a:ext cx="1461470" cy="1849961"/>
          </a:xfrm>
          <a:custGeom>
            <a:avLst/>
            <a:gdLst/>
            <a:ahLst/>
            <a:cxnLst/>
            <a:rect l="l" t="t" r="r" b="b"/>
            <a:pathLst>
              <a:path w="1461470" h="1849961">
                <a:moveTo>
                  <a:pt x="0" y="0"/>
                </a:moveTo>
                <a:lnTo>
                  <a:pt x="1461469" y="0"/>
                </a:lnTo>
                <a:lnTo>
                  <a:pt x="1461469" y="1849961"/>
                </a:lnTo>
                <a:lnTo>
                  <a:pt x="0" y="1849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967259" y="3490185"/>
            <a:ext cx="1222079" cy="1695370"/>
          </a:xfrm>
          <a:custGeom>
            <a:avLst/>
            <a:gdLst/>
            <a:ahLst/>
            <a:cxnLst/>
            <a:rect l="l" t="t" r="r" b="b"/>
            <a:pathLst>
              <a:path w="1222079" h="1695370">
                <a:moveTo>
                  <a:pt x="0" y="0"/>
                </a:moveTo>
                <a:lnTo>
                  <a:pt x="1222079" y="0"/>
                </a:lnTo>
                <a:lnTo>
                  <a:pt x="1222079" y="1695370"/>
                </a:lnTo>
                <a:lnTo>
                  <a:pt x="0" y="16953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463747" y="1406167"/>
            <a:ext cx="12138102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90"/>
              </a:lnSpc>
              <a:spcBef>
                <a:spcPct val="0"/>
              </a:spcBef>
            </a:pPr>
            <a:r>
              <a:rPr lang="en-US" sz="10403" dirty="0">
                <a:solidFill>
                  <a:schemeClr val="bg2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SECURITY AND ETHICAL ISSUES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73082" y="5604609"/>
            <a:ext cx="3691551" cy="67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58"/>
              </a:lnSpc>
              <a:spcBef>
                <a:spcPct val="0"/>
              </a:spcBef>
            </a:pPr>
            <a:r>
              <a:rPr lang="en-US" sz="6192">
                <a:solidFill>
                  <a:srgbClr val="BF78FE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SECURITY RISKS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0086" y="6408795"/>
            <a:ext cx="3037045" cy="1278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10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breaches, hacking, misuse of AI (e.g., deepfakes).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77506" y="5604609"/>
            <a:ext cx="4128857" cy="67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58"/>
              </a:lnSpc>
              <a:spcBef>
                <a:spcPct val="0"/>
              </a:spcBef>
            </a:pPr>
            <a:r>
              <a:rPr lang="en-US" sz="6192">
                <a:solidFill>
                  <a:srgbClr val="BF78FE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ETHICAL CONCERNS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77506" y="6409011"/>
            <a:ext cx="3562560" cy="12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8"/>
              </a:lnSpc>
            </a:pPr>
            <a:r>
              <a:rPr lang="en-US" sz="210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Bias in AI models, transparency, and privacy.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1699791"/>
            <a:ext cx="8509101" cy="9311388"/>
          </a:xfrm>
          <a:custGeom>
            <a:avLst/>
            <a:gdLst/>
            <a:ahLst/>
            <a:cxnLst/>
            <a:rect l="l" t="t" r="r" b="b"/>
            <a:pathLst>
              <a:path w="8509101" h="9311388">
                <a:moveTo>
                  <a:pt x="0" y="0"/>
                </a:moveTo>
                <a:lnTo>
                  <a:pt x="8509101" y="0"/>
                </a:lnTo>
                <a:lnTo>
                  <a:pt x="8509101" y="9311388"/>
                </a:lnTo>
                <a:lnTo>
                  <a:pt x="0" y="9311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830357" y="-902150"/>
            <a:ext cx="6173053" cy="2601942"/>
          </a:xfrm>
          <a:custGeom>
            <a:avLst/>
            <a:gdLst/>
            <a:ahLst/>
            <a:cxnLst/>
            <a:rect l="l" t="t" r="r" b="b"/>
            <a:pathLst>
              <a:path w="6173053" h="2601942">
                <a:moveTo>
                  <a:pt x="0" y="0"/>
                </a:moveTo>
                <a:lnTo>
                  <a:pt x="6173052" y="0"/>
                </a:lnTo>
                <a:lnTo>
                  <a:pt x="6173052" y="2601941"/>
                </a:lnTo>
                <a:lnTo>
                  <a:pt x="0" y="2601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3091052">
            <a:off x="-1684467" y="5508041"/>
            <a:ext cx="6638823" cy="5976180"/>
          </a:xfrm>
          <a:custGeom>
            <a:avLst/>
            <a:gdLst/>
            <a:ahLst/>
            <a:cxnLst/>
            <a:rect l="l" t="t" r="r" b="b"/>
            <a:pathLst>
              <a:path w="6638823" h="5976180">
                <a:moveTo>
                  <a:pt x="0" y="0"/>
                </a:moveTo>
                <a:lnTo>
                  <a:pt x="6638824" y="0"/>
                </a:lnTo>
                <a:lnTo>
                  <a:pt x="6638824" y="5976180"/>
                </a:lnTo>
                <a:lnTo>
                  <a:pt x="0" y="5976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675242" y="1101243"/>
            <a:ext cx="738288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31"/>
              </a:lnSpc>
              <a:spcBef>
                <a:spcPct val="0"/>
              </a:spcBef>
            </a:pPr>
            <a:r>
              <a:rPr lang="en-US" sz="5599" dirty="0">
                <a:solidFill>
                  <a:schemeClr val="bg2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TECHNICAL 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231" y="3474314"/>
            <a:ext cx="8597979" cy="2879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5942" lvl="1" indent="-592971" algn="l">
              <a:lnSpc>
                <a:spcPts val="7690"/>
              </a:lnSpc>
              <a:buFont typeface="Arial"/>
              <a:buChar char="•"/>
            </a:pPr>
            <a:r>
              <a:rPr lang="en-US" sz="549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HIGH COMPUTATIONAL COST.</a:t>
            </a:r>
          </a:p>
          <a:p>
            <a:pPr marL="1185942" lvl="1" indent="-592971" algn="l">
              <a:lnSpc>
                <a:spcPts val="7690"/>
              </a:lnSpc>
              <a:buFont typeface="Arial"/>
              <a:buChar char="•"/>
            </a:pPr>
            <a:r>
              <a:rPr lang="en-US" sz="549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INTEGRATION WITH LEGACY SYSTEMS.</a:t>
            </a:r>
          </a:p>
          <a:p>
            <a:pPr marL="1185942" lvl="1" indent="-592971" algn="l">
              <a:lnSpc>
                <a:spcPts val="7690"/>
              </a:lnSpc>
              <a:buFont typeface="Arial"/>
              <a:buChar char="•"/>
            </a:pPr>
            <a:r>
              <a:rPr lang="en-US" sz="549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KEEPING MODELS ACCURATE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16" b="-86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900191" y="-3935015"/>
            <a:ext cx="7800381" cy="6821864"/>
          </a:xfrm>
          <a:custGeom>
            <a:avLst/>
            <a:gdLst/>
            <a:ahLst/>
            <a:cxnLst/>
            <a:rect l="l" t="t" r="r" b="b"/>
            <a:pathLst>
              <a:path w="7800381" h="6821864">
                <a:moveTo>
                  <a:pt x="0" y="0"/>
                </a:moveTo>
                <a:lnTo>
                  <a:pt x="7800382" y="0"/>
                </a:lnTo>
                <a:lnTo>
                  <a:pt x="7800382" y="6821864"/>
                </a:lnTo>
                <a:lnTo>
                  <a:pt x="0" y="6821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841328" y="3284509"/>
            <a:ext cx="5198484" cy="8229600"/>
          </a:xfrm>
          <a:custGeom>
            <a:avLst/>
            <a:gdLst/>
            <a:ahLst/>
            <a:cxnLst/>
            <a:rect l="l" t="t" r="r" b="b"/>
            <a:pathLst>
              <a:path w="5198484" h="8229600">
                <a:moveTo>
                  <a:pt x="0" y="0"/>
                </a:moveTo>
                <a:lnTo>
                  <a:pt x="5198484" y="0"/>
                </a:lnTo>
                <a:lnTo>
                  <a:pt x="51984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999328" y="1400683"/>
            <a:ext cx="5646292" cy="67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8"/>
              </a:lnSpc>
              <a:spcBef>
                <a:spcPct val="0"/>
              </a:spcBef>
            </a:pPr>
            <a:r>
              <a:rPr lang="en-US" sz="6192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LEGAL Issues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87053" y="7237219"/>
            <a:ext cx="4605796" cy="67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58"/>
              </a:lnSpc>
              <a:spcBef>
                <a:spcPct val="0"/>
              </a:spcBef>
            </a:pPr>
            <a:r>
              <a:rPr lang="en-US" sz="6192">
                <a:solidFill>
                  <a:srgbClr val="6866E1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SECURITY RISKS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7053" y="7765035"/>
            <a:ext cx="5359782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Cyberattacks on AI systems, economic disruptions.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64687" y="4364038"/>
            <a:ext cx="9842302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LEGAL AND SECURITY IMPLICATIONS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42583" y="1928499"/>
            <a:ext cx="5359782" cy="1811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Accountability for AI decisions, compliance with data laws.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1069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131FA8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620763">
            <a:off x="-429086" y="-676113"/>
            <a:ext cx="8987203" cy="4150026"/>
          </a:xfrm>
          <a:custGeom>
            <a:avLst/>
            <a:gdLst/>
            <a:ahLst/>
            <a:cxnLst/>
            <a:rect l="l" t="t" r="r" b="b"/>
            <a:pathLst>
              <a:path w="8987203" h="4150026">
                <a:moveTo>
                  <a:pt x="0" y="0"/>
                </a:moveTo>
                <a:lnTo>
                  <a:pt x="8987203" y="0"/>
                </a:lnTo>
                <a:lnTo>
                  <a:pt x="8987203" y="4150027"/>
                </a:lnTo>
                <a:lnTo>
                  <a:pt x="0" y="4150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2146" y="1213800"/>
            <a:ext cx="14684628" cy="7859399"/>
          </a:xfrm>
          <a:custGeom>
            <a:avLst/>
            <a:gdLst/>
            <a:ahLst/>
            <a:cxnLst/>
            <a:rect l="l" t="t" r="r" b="b"/>
            <a:pathLst>
              <a:path w="14684628" h="7859399">
                <a:moveTo>
                  <a:pt x="0" y="0"/>
                </a:moveTo>
                <a:lnTo>
                  <a:pt x="14684627" y="0"/>
                </a:lnTo>
                <a:lnTo>
                  <a:pt x="14684627" y="7859400"/>
                </a:lnTo>
                <a:lnTo>
                  <a:pt x="0" y="7859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02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950717" y="4257922"/>
            <a:ext cx="2965916" cy="6828198"/>
          </a:xfrm>
          <a:custGeom>
            <a:avLst/>
            <a:gdLst/>
            <a:ahLst/>
            <a:cxnLst/>
            <a:rect l="l" t="t" r="r" b="b"/>
            <a:pathLst>
              <a:path w="2965916" h="6828198">
                <a:moveTo>
                  <a:pt x="0" y="0"/>
                </a:moveTo>
                <a:lnTo>
                  <a:pt x="2965917" y="0"/>
                </a:lnTo>
                <a:lnTo>
                  <a:pt x="2965917" y="6828199"/>
                </a:lnTo>
                <a:lnTo>
                  <a:pt x="0" y="6828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07017" y="7672021"/>
            <a:ext cx="4171532" cy="3569725"/>
          </a:xfrm>
          <a:custGeom>
            <a:avLst/>
            <a:gdLst/>
            <a:ahLst/>
            <a:cxnLst/>
            <a:rect l="l" t="t" r="r" b="b"/>
            <a:pathLst>
              <a:path w="4171532" h="3569725">
                <a:moveTo>
                  <a:pt x="0" y="0"/>
                </a:moveTo>
                <a:lnTo>
                  <a:pt x="4171532" y="0"/>
                </a:lnTo>
                <a:lnTo>
                  <a:pt x="4171532" y="3569725"/>
                </a:lnTo>
                <a:lnTo>
                  <a:pt x="0" y="35697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337283" y="1792133"/>
            <a:ext cx="11613435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35"/>
              </a:lnSpc>
              <a:spcBef>
                <a:spcPct val="0"/>
              </a:spcBef>
            </a:pPr>
            <a:r>
              <a:rPr lang="en-US" sz="11715" dirty="0">
                <a:solidFill>
                  <a:schemeClr val="bg2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CHALLENGES AND OPPORTUNITIES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42828" y="3755782"/>
            <a:ext cx="10469841" cy="1811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8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Challenges:</a:t>
            </a:r>
          </a:p>
          <a:p>
            <a:pPr algn="l">
              <a:lnSpc>
                <a:spcPts val="486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Explainability, data quality, interoperability.</a:t>
            </a:r>
          </a:p>
          <a:p>
            <a:pPr algn="l">
              <a:lnSpc>
                <a:spcPts val="4860"/>
              </a:lnSpc>
            </a:pPr>
            <a:endParaRPr lang="en-US" sz="300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42828" y="6164653"/>
            <a:ext cx="10469841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8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Opportunities:</a:t>
            </a:r>
          </a:p>
          <a:p>
            <a:pPr algn="l">
              <a:lnSpc>
                <a:spcPts val="4860"/>
              </a:lnSpc>
            </a:pPr>
            <a:r>
              <a:rPr lang="en-US" sz="3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Efficiency, innovation, global accessibility.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4412617" y="5774369"/>
            <a:ext cx="11130264" cy="8435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525894" y="3834856"/>
            <a:ext cx="1886578" cy="1555641"/>
          </a:xfrm>
          <a:custGeom>
            <a:avLst/>
            <a:gdLst/>
            <a:ahLst/>
            <a:cxnLst/>
            <a:rect l="l" t="t" r="r" b="b"/>
            <a:pathLst>
              <a:path w="1886578" h="1555641">
                <a:moveTo>
                  <a:pt x="0" y="0"/>
                </a:moveTo>
                <a:lnTo>
                  <a:pt x="1886578" y="0"/>
                </a:lnTo>
                <a:lnTo>
                  <a:pt x="1886578" y="1555641"/>
                </a:lnTo>
                <a:lnTo>
                  <a:pt x="0" y="155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25894" y="6554525"/>
            <a:ext cx="1886578" cy="1555641"/>
          </a:xfrm>
          <a:custGeom>
            <a:avLst/>
            <a:gdLst/>
            <a:ahLst/>
            <a:cxnLst/>
            <a:rect l="l" t="t" r="r" b="b"/>
            <a:pathLst>
              <a:path w="1886578" h="1555641">
                <a:moveTo>
                  <a:pt x="0" y="0"/>
                </a:moveTo>
                <a:lnTo>
                  <a:pt x="1886578" y="0"/>
                </a:lnTo>
                <a:lnTo>
                  <a:pt x="1886578" y="1555641"/>
                </a:lnTo>
                <a:lnTo>
                  <a:pt x="0" y="155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3941740" y="-4440594"/>
            <a:ext cx="8339294" cy="7136224"/>
          </a:xfrm>
          <a:custGeom>
            <a:avLst/>
            <a:gdLst/>
            <a:ahLst/>
            <a:cxnLst/>
            <a:rect l="l" t="t" r="r" b="b"/>
            <a:pathLst>
              <a:path w="8339294" h="7136224">
                <a:moveTo>
                  <a:pt x="0" y="0"/>
                </a:moveTo>
                <a:lnTo>
                  <a:pt x="8339295" y="0"/>
                </a:lnTo>
                <a:lnTo>
                  <a:pt x="8339295" y="7136224"/>
                </a:lnTo>
                <a:lnTo>
                  <a:pt x="0" y="7136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44EEA">
                <a:alpha val="100000"/>
              </a:srgbClr>
            </a:gs>
            <a:gs pos="50000">
              <a:srgbClr val="5527F5">
                <a:alpha val="100000"/>
              </a:srgbClr>
            </a:gs>
            <a:gs pos="100000">
              <a:srgbClr val="041069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64344" y="5958420"/>
            <a:ext cx="0" cy="51456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802444" y="-2572817"/>
            <a:ext cx="0" cy="51456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08092" y="-3588763"/>
            <a:ext cx="10008973" cy="8229600"/>
          </a:xfrm>
          <a:custGeom>
            <a:avLst/>
            <a:gdLst/>
            <a:ahLst/>
            <a:cxnLst/>
            <a:rect l="l" t="t" r="r" b="b"/>
            <a:pathLst>
              <a:path w="10008973" h="8229600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995996" y="5507733"/>
            <a:ext cx="10008973" cy="8229600"/>
          </a:xfrm>
          <a:custGeom>
            <a:avLst/>
            <a:gdLst/>
            <a:ahLst/>
            <a:cxnLst/>
            <a:rect l="l" t="t" r="r" b="b"/>
            <a:pathLst>
              <a:path w="10008973" h="8229600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19702" y="2582224"/>
            <a:ext cx="7747874" cy="2963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66"/>
              </a:lnSpc>
            </a:pPr>
            <a:r>
              <a:rPr lang="en-US" sz="18833" dirty="0">
                <a:solidFill>
                  <a:schemeClr val="bg2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THANK YOU!</a:t>
            </a:r>
          </a:p>
        </p:txBody>
      </p:sp>
      <p:sp>
        <p:nvSpPr>
          <p:cNvPr id="7" name="Freeform 7"/>
          <p:cNvSpPr/>
          <p:nvPr/>
        </p:nvSpPr>
        <p:spPr>
          <a:xfrm>
            <a:off x="9144000" y="1550639"/>
            <a:ext cx="8001878" cy="8071895"/>
          </a:xfrm>
          <a:custGeom>
            <a:avLst/>
            <a:gdLst/>
            <a:ahLst/>
            <a:cxnLst/>
            <a:rect l="l" t="t" r="r" b="b"/>
            <a:pathLst>
              <a:path w="8001878" h="8071895">
                <a:moveTo>
                  <a:pt x="0" y="0"/>
                </a:moveTo>
                <a:lnTo>
                  <a:pt x="8001878" y="0"/>
                </a:lnTo>
                <a:lnTo>
                  <a:pt x="8001878" y="8071894"/>
                </a:lnTo>
                <a:lnTo>
                  <a:pt x="0" y="807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1995996" y="7317810"/>
            <a:ext cx="6049393" cy="5290528"/>
          </a:xfrm>
          <a:custGeom>
            <a:avLst/>
            <a:gdLst/>
            <a:ahLst/>
            <a:cxnLst/>
            <a:rect l="l" t="t" r="r" b="b"/>
            <a:pathLst>
              <a:path w="6049393" h="5290528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771515" y="-3149182"/>
            <a:ext cx="6049393" cy="5290528"/>
          </a:xfrm>
          <a:custGeom>
            <a:avLst/>
            <a:gdLst/>
            <a:ahLst/>
            <a:cxnLst/>
            <a:rect l="l" t="t" r="r" b="b"/>
            <a:pathLst>
              <a:path w="6049393" h="5290528">
                <a:moveTo>
                  <a:pt x="0" y="0"/>
                </a:moveTo>
                <a:lnTo>
                  <a:pt x="6049392" y="0"/>
                </a:lnTo>
                <a:lnTo>
                  <a:pt x="6049392" y="5290527"/>
                </a:lnTo>
                <a:lnTo>
                  <a:pt x="0" y="5290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292</Words>
  <Application>Microsoft Office PowerPoint</Application>
  <PresentationFormat>Custom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Computer Says No</vt:lpstr>
      <vt:lpstr>Poppins Light</vt:lpstr>
      <vt:lpstr>Calibri</vt:lpstr>
      <vt:lpstr>Arial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Illustrative Artificial Intelligence Project Presentation</dc:title>
  <cp:lastModifiedBy>OMAR ABU-HASSAN</cp:lastModifiedBy>
  <cp:revision>2</cp:revision>
  <dcterms:created xsi:type="dcterms:W3CDTF">2006-08-16T00:00:00Z</dcterms:created>
  <dcterms:modified xsi:type="dcterms:W3CDTF">2025-01-12T16:31:04Z</dcterms:modified>
  <dc:identifier>DAGaguwCfuY</dc:identifier>
</cp:coreProperties>
</file>